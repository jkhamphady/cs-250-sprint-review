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36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9314" y="596019"/>
            <a:ext cx="7510506" cy="3213982"/>
          </a:xfrm>
        </p:spPr>
        <p:txBody>
          <a:bodyPr anchor="b">
            <a:normAutofit/>
          </a:bodyPr>
          <a:lstStyle>
            <a:lvl1pPr algn="ctr">
              <a:defRPr sz="40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314" y="3886200"/>
            <a:ext cx="7510506" cy="2219108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900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14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9314" y="3270698"/>
            <a:ext cx="7510506" cy="1823305"/>
          </a:xfrm>
        </p:spPr>
        <p:txBody>
          <a:bodyPr anchor="b">
            <a:normAutofit/>
          </a:bodyPr>
          <a:lstStyle>
            <a:lvl1pPr algn="r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9314" y="5103810"/>
            <a:ext cx="7510506" cy="99825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01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347" y="2060898"/>
            <a:ext cx="3685073" cy="403133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060898"/>
            <a:ext cx="3689239" cy="403133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287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6306" y="2060898"/>
            <a:ext cx="3397113" cy="733596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8347" y="2786027"/>
            <a:ext cx="3685073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10150" y="2060898"/>
            <a:ext cx="3419670" cy="725129"/>
          </a:xfrm>
        </p:spPr>
        <p:txBody>
          <a:bodyPr anchor="b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65" y="2786027"/>
            <a:ext cx="3701520" cy="3316033"/>
          </a:xfrm>
        </p:spPr>
        <p:txBody>
          <a:bodyPr anchor="t"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49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0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46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754928"/>
            <a:ext cx="2729523" cy="1371600"/>
          </a:xfrm>
        </p:spPr>
        <p:txBody>
          <a:bodyPr anchor="b">
            <a:normAutofit/>
          </a:bodyPr>
          <a:lstStyle>
            <a:lvl1pPr algn="l">
              <a:defRPr sz="2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28856" y="596018"/>
            <a:ext cx="4500964" cy="5506041"/>
          </a:xfrm>
        </p:spPr>
        <p:txBody>
          <a:bodyPr anchor="ctr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8347" y="3126528"/>
            <a:ext cx="272952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41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1898269"/>
            <a:ext cx="4423803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15442" y="-18288"/>
            <a:ext cx="2500062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7318" y="3269869"/>
            <a:ext cx="4423803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23649" y="6181344"/>
            <a:ext cx="718502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18348" y="6181344"/>
            <a:ext cx="3705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24262" y="6181344"/>
            <a:ext cx="305186" cy="3292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704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677" y="4377485"/>
            <a:ext cx="7413007" cy="907505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7678" y="996188"/>
            <a:ext cx="7301427" cy="298112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677" y="5284990"/>
            <a:ext cx="7413007" cy="8170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7678" y="6181344"/>
            <a:ext cx="533727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461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4" cy="3137782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343400"/>
            <a:ext cx="7511474" cy="175866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0345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583818" y="86027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8822" y="29859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304407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436" y="3650606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641206"/>
            <a:ext cx="7511473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332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7" y="3603566"/>
            <a:ext cx="7512338" cy="14688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015" y="5072366"/>
            <a:ext cx="7512339" cy="102969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2118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583818" y="75385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556" y="287949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942" y="596018"/>
            <a:ext cx="6974115" cy="2844369"/>
          </a:xfrm>
        </p:spPr>
        <p:txBody>
          <a:bodyPr anchor="ctr">
            <a:normAutofit/>
          </a:bodyPr>
          <a:lstStyle>
            <a:lvl1pPr algn="l">
              <a:defRPr sz="28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7" y="3886200"/>
            <a:ext cx="7512338" cy="105366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0" scaled="1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939862"/>
            <a:ext cx="7512338" cy="1162198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8615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346" y="596018"/>
            <a:ext cx="7511473" cy="275678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8346" y="3682941"/>
            <a:ext cx="7511473" cy="104928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7" y="4732224"/>
            <a:ext cx="7511472" cy="1369836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72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943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1708" y="596018"/>
            <a:ext cx="1778112" cy="55060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8347" y="596018"/>
            <a:ext cx="5624137" cy="550604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251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8347" y="596018"/>
            <a:ext cx="7511473" cy="1312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8348" y="2060898"/>
            <a:ext cx="7511472" cy="4041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1708" y="6178260"/>
            <a:ext cx="12874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8347" y="6178260"/>
            <a:ext cx="5624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7202" y="617826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079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3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1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40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t>Evaluating Scrum-Agile for the SNHU Travel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ChadaTech Pilot Implementation</a:t>
            </a:r>
          </a:p>
          <a:p>
            <a:r>
              <a:t>Justin Khamphady</a:t>
            </a:r>
          </a:p>
          <a:p>
            <a:r>
              <a:t>CS-250</a:t>
            </a:r>
          </a:p>
          <a:p>
            <a:r>
              <a:t>Southern New Hampshire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7732" y="609600"/>
            <a:ext cx="5057825" cy="1905000"/>
          </a:xfrm>
        </p:spPr>
        <p:txBody>
          <a:bodyPr>
            <a:normAutofit/>
          </a:bodyPr>
          <a:lstStyle/>
          <a:p>
            <a:r>
              <a:t>Scrum Framework and Roles</a:t>
            </a:r>
          </a:p>
        </p:txBody>
      </p:sp>
      <p:pic>
        <p:nvPicPr>
          <p:cNvPr id="5" name="Picture 4" descr="People at the meeting desk">
            <a:extLst>
              <a:ext uri="{FF2B5EF4-FFF2-40B4-BE49-F238E27FC236}">
                <a16:creationId xmlns:a16="http://schemas.microsoft.com/office/drawing/2014/main" id="{A2550353-C5BF-B6BA-4D93-55F3AE33B0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596" r="43999"/>
          <a:stretch>
            <a:fillRect/>
          </a:stretch>
        </p:blipFill>
        <p:spPr>
          <a:xfrm>
            <a:off x="193192" y="10"/>
            <a:ext cx="2609642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7732" y="2666999"/>
            <a:ext cx="5285133" cy="3415749"/>
          </a:xfrm>
        </p:spPr>
        <p:txBody>
          <a:bodyPr>
            <a:normAutofit/>
          </a:bodyPr>
          <a:lstStyle/>
          <a:p>
            <a:r>
              <a:t>Scrum is an Agile framework that organizes work into short, iterative cycles called sprints.</a:t>
            </a:r>
          </a:p>
          <a:p>
            <a:pPr lvl="1"/>
            <a:r>
              <a:t>Product Owner – Manages and prioritizes the product backlog</a:t>
            </a:r>
          </a:p>
          <a:p>
            <a:pPr lvl="1"/>
            <a:r>
              <a:t>Scrum Master – Facilitates Scrum events and removes obstacles</a:t>
            </a:r>
          </a:p>
          <a:p>
            <a:pPr lvl="1"/>
            <a:r>
              <a:t>Development Team – Designs, builds, and tests product increments</a:t>
            </a:r>
          </a:p>
          <a:p>
            <a:pPr lvl="1"/>
            <a:r>
              <a:t>(Asana, 2026; GeeksforGeeks, 2025a)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34" y="714375"/>
            <a:ext cx="2499716" cy="5076826"/>
          </a:xfrm>
        </p:spPr>
        <p:txBody>
          <a:bodyPr anchor="ctr">
            <a:normAutofit/>
          </a:bodyPr>
          <a:lstStyle/>
          <a:p>
            <a:r>
              <a:rPr lang="en-US" sz="3500"/>
              <a:t>Agile Phases Within the SDLC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5017" y="0"/>
            <a:ext cx="566898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7654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1752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784" y="714375"/>
            <a:ext cx="4690313" cy="50768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Agile integrates traditional SDLC phases into iterative cycles: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Requirements – Maintained in a prioritized backlog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Design – Completed during sprint planning and refinement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Development – Executed during the sprint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Testing – Continuous throughout development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Deployment – Incremental release of working features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(Mendix,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7732" y="609600"/>
            <a:ext cx="5057825" cy="1905000"/>
          </a:xfrm>
        </p:spPr>
        <p:txBody>
          <a:bodyPr>
            <a:normAutofit/>
          </a:bodyPr>
          <a:lstStyle/>
          <a:p>
            <a:r>
              <a:t>Waterfall Model Characteristics</a:t>
            </a:r>
          </a:p>
        </p:txBody>
      </p:sp>
      <p:pic>
        <p:nvPicPr>
          <p:cNvPr id="5" name="Picture 4" descr="Different colored organizers">
            <a:extLst>
              <a:ext uri="{FF2B5EF4-FFF2-40B4-BE49-F238E27FC236}">
                <a16:creationId xmlns:a16="http://schemas.microsoft.com/office/drawing/2014/main" id="{34DBBE2D-4E45-D966-6238-CFA7A148C4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42" r="38436" b="1"/>
          <a:stretch>
            <a:fillRect/>
          </a:stretch>
        </p:blipFill>
        <p:spPr>
          <a:xfrm>
            <a:off x="193192" y="10"/>
            <a:ext cx="2609642" cy="6857990"/>
          </a:xfrm>
          <a:prstGeom prst="rect">
            <a:avLst/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7732" y="2666999"/>
            <a:ext cx="5285133" cy="3415749"/>
          </a:xfrm>
        </p:spPr>
        <p:txBody>
          <a:bodyPr>
            <a:normAutofit/>
          </a:bodyPr>
          <a:lstStyle/>
          <a:p>
            <a:r>
              <a:t>Waterfall is a sequential development methodology:</a:t>
            </a:r>
          </a:p>
          <a:p>
            <a:pPr lvl="1"/>
            <a:r>
              <a:t>Requirements defined upfront</a:t>
            </a:r>
          </a:p>
          <a:p>
            <a:pPr lvl="1"/>
            <a:r>
              <a:t>Distinct linear phases</a:t>
            </a:r>
          </a:p>
          <a:p>
            <a:pPr lvl="1"/>
            <a:r>
              <a:t>Heavy documentation</a:t>
            </a:r>
          </a:p>
          <a:p>
            <a:pPr lvl="1"/>
            <a:r>
              <a:t>Testing occurs after development</a:t>
            </a:r>
          </a:p>
          <a:p>
            <a:pPr lvl="1"/>
            <a:r>
              <a:t>Limited flexibility once development begins</a:t>
            </a:r>
          </a:p>
          <a:p>
            <a:pPr lvl="1"/>
            <a:r>
              <a:t>(GeeksforGeeks, 2025b)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aterfalls by lake">
            <a:extLst>
              <a:ext uri="{FF2B5EF4-FFF2-40B4-BE49-F238E27FC236}">
                <a16:creationId xmlns:a16="http://schemas.microsoft.com/office/drawing/2014/main" id="{927A7A4F-AA0C-2D83-5C25-1FB1F0F6A20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7567" r="3432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>
            <a:normAutofit/>
          </a:bodyPr>
          <a:lstStyle/>
          <a:p>
            <a:r>
              <a:t>Comparison: Waterfall vs Agile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666999"/>
            <a:ext cx="7429499" cy="3124201"/>
          </a:xfrm>
        </p:spPr>
        <p:txBody>
          <a:bodyPr>
            <a:normAutofit/>
          </a:bodyPr>
          <a:lstStyle/>
          <a:p>
            <a:r>
              <a:t>Flexibility – Waterfall: Low | Agile: High</a:t>
            </a:r>
          </a:p>
          <a:p>
            <a:pPr lvl="1"/>
            <a:r>
              <a:t>Stakeholder Feedback – Waterfall: Late | Agile: Continuous</a:t>
            </a:r>
          </a:p>
          <a:p>
            <a:pPr lvl="1"/>
            <a:r>
              <a:t>Risk Management – Waterfall: Late discovery | Agile: Early mitigation</a:t>
            </a:r>
          </a:p>
          <a:p>
            <a:pPr lvl="1"/>
            <a:r>
              <a:t>Change Adaptation – Waterfall: Costly | Agile: Managed via backlog reprioritization</a:t>
            </a:r>
          </a:p>
          <a:p>
            <a:pPr lvl="1"/>
            <a:r>
              <a:t>(GeeksforGeeks, 2025a; 2025b; Mendix, 2025)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orld map with flight paths">
            <a:extLst>
              <a:ext uri="{FF2B5EF4-FFF2-40B4-BE49-F238E27FC236}">
                <a16:creationId xmlns:a16="http://schemas.microsoft.com/office/drawing/2014/main" id="{40E67573-9B53-7AD2-C4BA-355E947BB5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777" r="8223" b="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>
            <a:normAutofit/>
          </a:bodyPr>
          <a:lstStyle/>
          <a:p>
            <a:r>
              <a:t>Evaluation for SNHU Travel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6059" y="2666999"/>
            <a:ext cx="7429499" cy="3124201"/>
          </a:xfrm>
        </p:spPr>
        <p:txBody>
          <a:bodyPr>
            <a:normAutofit/>
          </a:bodyPr>
          <a:lstStyle/>
          <a:p>
            <a:r>
              <a:t>The SNHU Travel application required:</a:t>
            </a:r>
          </a:p>
          <a:p>
            <a:pPr lvl="1"/>
            <a:r>
              <a:t>Evolving feature requirements</a:t>
            </a:r>
          </a:p>
          <a:p>
            <a:pPr lvl="1"/>
            <a:r>
              <a:t>Frequent stakeholder feedback</a:t>
            </a:r>
          </a:p>
          <a:p>
            <a:pPr lvl="1"/>
            <a:r>
              <a:t>Incremental testing and refinement</a:t>
            </a:r>
          </a:p>
          <a:p>
            <a:pPr lvl="1"/>
            <a:r>
              <a:t>Adaptability to scope changes</a:t>
            </a:r>
          </a:p>
          <a:p>
            <a:pPr lvl="1"/>
            <a:r>
              <a:t>Conclusion: Scrum-Agile was the most appropriate methodology for this project.</a:t>
            </a:r>
          </a:p>
          <a:p>
            <a:pPr lvl="1"/>
            <a:r>
              <a:t>(Asana, 2026; Mendix, 2025)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0634" y="714375"/>
            <a:ext cx="2499716" cy="5076826"/>
          </a:xfrm>
        </p:spPr>
        <p:txBody>
          <a:bodyPr anchor="ctr">
            <a:normAutofit/>
          </a:bodyPr>
          <a:lstStyle/>
          <a:p>
            <a:r>
              <a:rPr lang="en-US" sz="3000"/>
              <a:t>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5136A9-49F9-4DA0-A741-F065B0FA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5017" y="0"/>
            <a:ext cx="5668982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912F6C7-0423-4B6F-AECE-710C848918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7654" y="3254098"/>
            <a:ext cx="6858000" cy="349805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208205-03EE-4EC8-9C34-59270C188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1752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9784" y="714375"/>
            <a:ext cx="4690313" cy="5076825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Asana. (2026). What is Scrum? Retrieved from https://asana.com/resources/what-is-scrum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GeeksforGeeks. (2025a). Scrum software development. Retrieved from https://www.geeksforgeeks.org/software-engineering/scrum-software-development/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GeeksforGeeks. (2025b). Waterfall model. Retrieved from https://www.geeksforgeeks.org/software-engineering/waterfall-model/</a:t>
            </a:r>
          </a:p>
          <a:p>
            <a:pPr lvl="1"/>
            <a:r>
              <a:rPr lang="en-US">
                <a:solidFill>
                  <a:schemeClr val="tx1"/>
                </a:solidFill>
              </a:rPr>
              <a:t>Mendix. (2025). Agile framework: What it is &amp; how it works. Retrieved from https://www.mendix.com/agile-framework/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TM03457485[[fn=Mesh]]</Template>
  <TotalTime>15</TotalTime>
  <Words>359</Words>
  <Application>Microsoft Office PowerPoint</Application>
  <PresentationFormat>On-screen Show (4:3)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Mesh</vt:lpstr>
      <vt:lpstr>Evaluating Scrum-Agile for the SNHU Travel Project</vt:lpstr>
      <vt:lpstr>Scrum Framework and Roles</vt:lpstr>
      <vt:lpstr>Agile Phases Within the SDLC</vt:lpstr>
      <vt:lpstr>Waterfall Model Characteristics</vt:lpstr>
      <vt:lpstr>Comparison: Waterfall vs Agile</vt:lpstr>
      <vt:lpstr>Evaluation for SNHU Travel Project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Aurora Hernandez Fuentes</dc:creator>
  <cp:keywords/>
  <dc:description>generated using python-pptx</dc:description>
  <cp:lastModifiedBy>Aurora Hernandez Fuentes</cp:lastModifiedBy>
  <cp:revision>3</cp:revision>
  <dcterms:created xsi:type="dcterms:W3CDTF">2013-01-27T09:14:16Z</dcterms:created>
  <dcterms:modified xsi:type="dcterms:W3CDTF">2026-02-21T20:31:44Z</dcterms:modified>
  <cp:category/>
</cp:coreProperties>
</file>